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0995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Introduce yourself and the project. Mention this is a no-code cloud automation project using Azure Logic Apps.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what the project is: automating email archiving with Azure Logic Apps. No code required. Takes about 10 minutes to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Logic Apps: it is a no-code cloud automation service by Microsoft. Mention triggers, actions, connectors. Compare to IFTTT or Zapier but enterprise-grade.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three-step flow: Trigger (new email) → Logic App processes → Action (creates file). Mention dynamic content maps email fields to file properties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setup steps. Emphasize: always use 'Logic apps' (green icon), not Templates. For hosting plan, always choose Multi-tenant under Consumption.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covers the actual workflow design. Left side: setting up the trigger. Right side: setting up the action. Emphasize dynamic content — it auto-fills email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Send a test email and show the Runs History. Navigate to OneDrive to show the file was created automatically. This is the 'wow moment' of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Logic Apps has hundreds of real-world applications. The email-to-OneDrive pattern is used in corporate, healthcare, finance, and many other sectors.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viva questions. Know these answers well. Be prepared to explain trigger vs action, dynamic content, and why you chose Multi-tenant over Standard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with the key takeaway. Logic Apps brings enterprise automation to anyone. Mention it's part of a wider Azure ecosystem — you can extend it with hundreds of other connectors.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audience. Open up for questions. You can mention the cleanup step: delete the LogicAppRG resource group after the demo to avoid charges.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2351A4">
              <a:alpha val="40000"/>
            </a:srgbClr>
          </a:solidFill>
          <a:ln w="12700">
            <a:solidFill>
              <a:srgbClr val="2351A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315200" y="2926080"/>
            <a:ext cx="2743200" cy="2743200"/>
          </a:xfrm>
          <a:prstGeom prst="ellipse">
            <a:avLst/>
          </a:prstGeom>
          <a:solidFill>
            <a:srgbClr val="2351A4">
              <a:alpha val="30000"/>
            </a:srgbClr>
          </a:solidFill>
          <a:ln w="12700">
            <a:solidFill>
              <a:srgbClr val="2351A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858000" y="-457200"/>
            <a:ext cx="1828800" cy="1828800"/>
          </a:xfrm>
          <a:prstGeom prst="ellipse">
            <a:avLst/>
          </a:prstGeom>
          <a:solidFill>
            <a:srgbClr val="00C6FF">
              <a:alpha val="20000"/>
            </a:srgbClr>
          </a:solidFill>
          <a:ln w="12700">
            <a:solidFill>
              <a:srgbClr val="00C6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457200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00C6FF">
              <a:alpha val="80000"/>
            </a:srgbClr>
          </a:solidFill>
          <a:ln w="12700">
            <a:solidFill>
              <a:srgbClr val="00C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AZURE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Logic Apps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No-Code Email Automation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4114800" cy="36576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288036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A8C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Outlook Email Archiving to OneDrive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A8C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writing a single line of code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1691640" cy="868680"/>
          </a:xfrm>
          <a:prstGeom prst="roundRect">
            <a:avLst>
              <a:gd name="adj" fmla="val 10526"/>
            </a:avLst>
          </a:prstGeom>
          <a:solidFill>
            <a:srgbClr val="162052"/>
          </a:solidFill>
          <a:ln w="12700">
            <a:solidFill>
              <a:srgbClr val="2351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391363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" y="42793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of Code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68880" y="391363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2468880" y="3890772"/>
            <a:ext cx="1691640" cy="868680"/>
          </a:xfrm>
          <a:prstGeom prst="roundRect">
            <a:avLst>
              <a:gd name="adj" fmla="val 10526"/>
            </a:avLst>
          </a:prstGeom>
          <a:solidFill>
            <a:srgbClr val="162052"/>
          </a:solidFill>
          <a:ln w="12700">
            <a:solidFill>
              <a:srgbClr val="2351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468880" y="3918204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468880" y="430682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Credits</a:t>
            </a:r>
            <a:endParaRPr lang="en-US" sz="10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914400"/>
            <a:ext cx="1645920" cy="1645920"/>
          </a:xfrm>
          <a:prstGeom prst="rect">
            <a:avLst/>
          </a:prstGeom>
        </p:spPr>
      </p:pic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2560320"/>
            <a:ext cx="731520" cy="7315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Computing Project  |  Vidyalankar Institute of Technology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82880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150034"/>
            <a:ext cx="8366760" cy="530352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127000" dist="254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502920" y="1179576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Name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331720" y="1179576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to OneDrive Automation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" y="1735250"/>
            <a:ext cx="8366760" cy="530352"/>
          </a:xfrm>
          <a:prstGeom prst="roundRect">
            <a:avLst>
              <a:gd name="adj" fmla="val 12727"/>
            </a:avLst>
          </a:prstGeom>
          <a:solidFill>
            <a:srgbClr val="E8EDF5"/>
          </a:solidFill>
          <a:ln w="12700">
            <a:solidFill>
              <a:srgbClr val="D0D8EA"/>
            </a:solidFill>
            <a:prstDash val="solid"/>
          </a:ln>
          <a:effectLst>
            <a:outerShdw blurRad="127000" dist="254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02920" y="1764792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331720" y="1764792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Azure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65760" y="2320466"/>
            <a:ext cx="8366760" cy="530352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127000" dist="254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02920" y="2350008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331720" y="2350008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Logic Apps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65760" y="2905682"/>
            <a:ext cx="8366760" cy="530352"/>
          </a:xfrm>
          <a:prstGeom prst="roundRect">
            <a:avLst>
              <a:gd name="adj" fmla="val 12727"/>
            </a:avLst>
          </a:prstGeom>
          <a:solidFill>
            <a:srgbClr val="E8EDF5"/>
          </a:solidFill>
          <a:ln w="12700">
            <a:solidFill>
              <a:srgbClr val="D0D8EA"/>
            </a:solidFill>
            <a:prstDash val="solid"/>
          </a:ln>
          <a:effectLst>
            <a:outerShdw blurRad="127000" dist="254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502920" y="2935224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331720" y="2935224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Email in Outlook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65760" y="3490898"/>
            <a:ext cx="8366760" cy="530352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D0D8EA"/>
            </a:solidFill>
            <a:prstDash val="solid"/>
          </a:ln>
          <a:effectLst>
            <a:outerShdw blurRad="127000" dist="254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502920" y="3520440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331720" y="3520440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File to OneDrive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65760" y="4076114"/>
            <a:ext cx="8366760" cy="530352"/>
          </a:xfrm>
          <a:prstGeom prst="roundRect">
            <a:avLst>
              <a:gd name="adj" fmla="val 12727"/>
            </a:avLst>
          </a:prstGeom>
          <a:solidFill>
            <a:srgbClr val="E8EDF5"/>
          </a:solidFill>
          <a:ln w="12700">
            <a:solidFill>
              <a:srgbClr val="D0D8EA"/>
            </a:solidFill>
            <a:prstDash val="solid"/>
          </a:ln>
          <a:effectLst>
            <a:outerShdw blurRad="127000" dist="254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502920" y="4105656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Required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2331720" y="4105656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— 100% No Code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720840" y="129844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26" name="Text 22"/>
          <p:cNvSpPr/>
          <p:nvPr/>
        </p:nvSpPr>
        <p:spPr>
          <a:xfrm>
            <a:off x="6720840" y="17190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6720840" y="2944369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6720840" y="382219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34" name="Text 28"/>
          <p:cNvSpPr/>
          <p:nvPr/>
        </p:nvSpPr>
        <p:spPr>
          <a:xfrm>
            <a:off x="6720840" y="424281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2351A4">
              <a:alpha val="40000"/>
            </a:srgbClr>
          </a:solidFill>
          <a:ln w="12700">
            <a:solidFill>
              <a:srgbClr val="2351A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Azure Logic Apps?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4114800" cy="36576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Logic Apps is a cloud-based, no-code workflow automation service that connects apps, data, and services using visual triggers and actions.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3931920" cy="1143000"/>
          </a:xfrm>
          <a:prstGeom prst="roundRect">
            <a:avLst>
              <a:gd name="adj" fmla="val 9600"/>
            </a:avLst>
          </a:prstGeom>
          <a:solidFill>
            <a:srgbClr val="162052"/>
          </a:solidFill>
          <a:ln w="12700">
            <a:solidFill>
              <a:srgbClr val="2351A4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0428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221284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Designer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34440" y="26060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8C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Drag-and-drop workflow builder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3474720"/>
            <a:ext cx="3931920" cy="1143000"/>
          </a:xfrm>
          <a:prstGeom prst="roundRect">
            <a:avLst>
              <a:gd name="adj" fmla="val 9600"/>
            </a:avLst>
          </a:prstGeom>
          <a:solidFill>
            <a:srgbClr val="162052"/>
          </a:solidFill>
          <a:ln w="12700">
            <a:solidFill>
              <a:srgbClr val="2351A4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675888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358444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1000+ Connectors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234440" y="39776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8C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Outlook, OneDrive, Teams, SAP...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846320" y="2103120"/>
            <a:ext cx="3931920" cy="1143000"/>
          </a:xfrm>
          <a:prstGeom prst="roundRect">
            <a:avLst>
              <a:gd name="adj" fmla="val 9600"/>
            </a:avLst>
          </a:prstGeom>
          <a:solidFill>
            <a:srgbClr val="162052"/>
          </a:solidFill>
          <a:ln w="12700">
            <a:solidFill>
              <a:srgbClr val="2351A4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2304288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623560" y="221284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Event-Driven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5623560" y="26060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8C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 run workflows automatically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846320" y="3474720"/>
            <a:ext cx="3931920" cy="1143000"/>
          </a:xfrm>
          <a:prstGeom prst="roundRect">
            <a:avLst>
              <a:gd name="adj" fmla="val 9600"/>
            </a:avLst>
          </a:prstGeom>
          <a:solidFill>
            <a:srgbClr val="162052"/>
          </a:solidFill>
          <a:ln w="12700">
            <a:solidFill>
              <a:srgbClr val="2351A4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675888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623560" y="358444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Ready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5623560" y="39776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8C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security &amp; compliance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286000" cy="2194560"/>
          </a:xfrm>
          <a:prstGeom prst="roundRect">
            <a:avLst>
              <a:gd name="adj" fmla="val 6250"/>
            </a:avLst>
          </a:prstGeom>
          <a:solidFill>
            <a:srgbClr val="EBF1FF"/>
          </a:solidFill>
          <a:ln w="12700">
            <a:solidFill>
              <a:srgbClr val="2351A4"/>
            </a:solidFill>
            <a:prstDash val="solid"/>
          </a:ln>
          <a:effectLst>
            <a:outerShdw blurRad="127000" dist="254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1536192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2351A4"/>
          </a:solidFill>
          <a:ln w="12700">
            <a:solidFill>
              <a:srgbClr val="2351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15361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029968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788920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Email in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Outlook Inbox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3240" y="2378050"/>
            <a:ext cx="594360" cy="30114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886200" y="1371600"/>
            <a:ext cx="2286000" cy="2194560"/>
          </a:xfrm>
          <a:prstGeom prst="roundRect">
            <a:avLst>
              <a:gd name="adj" fmla="val 6250"/>
            </a:avLst>
          </a:prstGeom>
          <a:solidFill>
            <a:srgbClr val="D4DCF5"/>
          </a:solidFill>
          <a:ln w="12700">
            <a:solidFill>
              <a:srgbClr val="1E2761"/>
            </a:solidFill>
            <a:prstDash val="solid"/>
          </a:ln>
          <a:effectLst>
            <a:outerShdw blurRad="127000" dist="254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4160520" y="1536192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4160520" y="15361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 APP</a:t>
            </a:r>
            <a:endParaRPr lang="en-US" sz="11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2029968"/>
            <a:ext cx="640080" cy="640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977640" y="2788920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</a:t>
            </a:r>
            <a:endParaRPr lang="en-US" sz="13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2149" y="2448482"/>
            <a:ext cx="437301" cy="221566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720840" y="1357884"/>
            <a:ext cx="2286000" cy="2194560"/>
          </a:xfrm>
          <a:prstGeom prst="roundRect">
            <a:avLst>
              <a:gd name="adj" fmla="val 6250"/>
            </a:avLst>
          </a:prstGeom>
          <a:solidFill>
            <a:srgbClr val="E0F7F1"/>
          </a:solidFill>
          <a:ln w="12700">
            <a:solidFill>
              <a:srgbClr val="00C48C"/>
            </a:solidFill>
            <a:prstDash val="solid"/>
          </a:ln>
          <a:effectLst>
            <a:outerShdw blurRad="127000" dist="254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1"/>
          <p:cNvSpPr/>
          <p:nvPr/>
        </p:nvSpPr>
        <p:spPr>
          <a:xfrm>
            <a:off x="6995160" y="1522476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/>
          <p:nvPr/>
        </p:nvSpPr>
        <p:spPr>
          <a:xfrm>
            <a:off x="7498080" y="15361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1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0" y="2016252"/>
            <a:ext cx="640080" cy="64008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812280" y="2775204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File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OneDrive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457200" y="374904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EBF1FF"/>
          </a:solidFill>
          <a:ln w="12700">
            <a:solidFill>
              <a:srgbClr val="2351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904488"/>
            <a:ext cx="411480" cy="41148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143000" y="37764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Content</a:t>
            </a:r>
            <a:endParaRPr lang="en-US" sz="1300" dirty="0"/>
          </a:p>
        </p:txBody>
      </p:sp>
      <p:sp>
        <p:nvSpPr>
          <p:cNvPr id="24" name="Text 16"/>
          <p:cNvSpPr/>
          <p:nvPr/>
        </p:nvSpPr>
        <p:spPr>
          <a:xfrm>
            <a:off x="1143000" y="414223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Subject  →  File Name (.txt)     |     Email Body  →  File Content     |     All inserted automatically by Logic Apps!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2351A4">
              <a:alpha val="35000"/>
            </a:srgbClr>
          </a:solidFill>
          <a:ln w="12700">
            <a:solidFill>
              <a:srgbClr val="2351A4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Step-by-Step Build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1 – 4  |  Setup &amp; Configuration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114800" cy="1508760"/>
          </a:xfrm>
          <a:prstGeom prst="roundRect">
            <a:avLst>
              <a:gd name="adj" fmla="val 7879"/>
            </a:avLst>
          </a:prstGeom>
          <a:solidFill>
            <a:srgbClr val="162052"/>
          </a:solidFill>
          <a:ln w="12700">
            <a:solidFill>
              <a:srgbClr val="2351A4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30352" y="15819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20440" y="1600200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80160" y="154533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Azure Portal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011680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C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portal.azure.com and sign in with your Microsoft account.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37760" y="1417320"/>
            <a:ext cx="4114800" cy="1508760"/>
          </a:xfrm>
          <a:prstGeom prst="roundRect">
            <a:avLst>
              <a:gd name="adj" fmla="val 7879"/>
            </a:avLst>
          </a:prstGeom>
          <a:solidFill>
            <a:srgbClr val="162052"/>
          </a:solidFill>
          <a:ln w="12700">
            <a:solidFill>
              <a:srgbClr val="2351A4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102352" y="15819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92440" y="1600200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52160" y="154533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Resource Group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20640" y="2011680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C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'Resource Groups' → Create → Name: LogicAppRG → Region: Central India.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154680"/>
            <a:ext cx="4114800" cy="1508760"/>
          </a:xfrm>
          <a:prstGeom prst="roundRect">
            <a:avLst>
              <a:gd name="adj" fmla="val 7879"/>
            </a:avLst>
          </a:prstGeom>
          <a:solidFill>
            <a:srgbClr val="162052"/>
          </a:solidFill>
          <a:ln w="12700">
            <a:solidFill>
              <a:srgbClr val="2351A4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30352" y="33192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520440" y="3337560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80160" y="328269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Logic App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3749040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C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'Logic Apps' → Click the green icon → Click '+ Create'.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37760" y="3154680"/>
            <a:ext cx="4114800" cy="1508760"/>
          </a:xfrm>
          <a:prstGeom prst="roundRect">
            <a:avLst>
              <a:gd name="adj" fmla="val 7879"/>
            </a:avLst>
          </a:prstGeom>
          <a:solidFill>
            <a:srgbClr val="162052"/>
          </a:solidFill>
          <a:ln w="12700">
            <a:solidFill>
              <a:srgbClr val="2351A4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102352" y="33192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092440" y="3337560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852160" y="328269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Hosting Plan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120640" y="3749040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C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'Multi-tenant' under Consumption column → Click 'Select'.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Design — Phases 5 &amp; 6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4023360" cy="3520440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12700">
            <a:solidFill>
              <a:srgbClr val="2351A4"/>
            </a:solidFill>
            <a:prstDash val="solid"/>
          </a:ln>
          <a:effectLst>
            <a:outerShdw blurRad="127000" dist="254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023360" cy="502920"/>
          </a:xfrm>
          <a:prstGeom prst="roundRect">
            <a:avLst>
              <a:gd name="adj" fmla="val 27273"/>
            </a:avLst>
          </a:prstGeom>
          <a:solidFill>
            <a:srgbClr val="2351A4"/>
          </a:solidFill>
          <a:ln w="12700">
            <a:solidFill>
              <a:srgbClr val="2351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1615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170432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— Add Outlook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256032" cy="256032"/>
          </a:xfrm>
          <a:prstGeom prst="ellipse">
            <a:avLst/>
          </a:prstGeom>
          <a:solidFill>
            <a:srgbClr val="2351A4"/>
          </a:solidFill>
          <a:ln w="12700">
            <a:solidFill>
              <a:srgbClr val="2351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457200" y="1783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04672" y="177393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'Add a trigger' on canvas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240280"/>
            <a:ext cx="256032" cy="256032"/>
          </a:xfrm>
          <a:prstGeom prst="ellipse">
            <a:avLst/>
          </a:prstGeom>
          <a:solidFill>
            <a:srgbClr val="2351A4"/>
          </a:solidFill>
          <a:ln w="12700">
            <a:solidFill>
              <a:srgbClr val="2351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457200" y="2240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04672" y="223113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'Outlook' → Select Office 365 Outlook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2697480"/>
            <a:ext cx="256032" cy="256032"/>
          </a:xfrm>
          <a:prstGeom prst="ellipse">
            <a:avLst/>
          </a:prstGeom>
          <a:solidFill>
            <a:srgbClr val="2351A4"/>
          </a:solidFill>
          <a:ln w="12700">
            <a:solidFill>
              <a:srgbClr val="2351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57200" y="2697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04672" y="268833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Choose: 'When a new email arrives (V3)'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3154680"/>
            <a:ext cx="256032" cy="256032"/>
          </a:xfrm>
          <a:prstGeom prst="ellipse">
            <a:avLst/>
          </a:prstGeom>
          <a:solidFill>
            <a:srgbClr val="2351A4"/>
          </a:solidFill>
          <a:ln w="12700">
            <a:solidFill>
              <a:srgbClr val="2351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457200" y="31546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04672" y="314553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 with your Outlook account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3611880"/>
            <a:ext cx="256032" cy="256032"/>
          </a:xfrm>
          <a:prstGeom prst="ellipse">
            <a:avLst/>
          </a:prstGeom>
          <a:solidFill>
            <a:srgbClr val="2351A4"/>
          </a:solidFill>
          <a:ln w="12700">
            <a:solidFill>
              <a:srgbClr val="2351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457200" y="3611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04672" y="360273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Folder → Inbox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4069080"/>
            <a:ext cx="256032" cy="256032"/>
          </a:xfrm>
          <a:prstGeom prst="ellipse">
            <a:avLst/>
          </a:prstGeom>
          <a:solidFill>
            <a:srgbClr val="2351A4"/>
          </a:solidFill>
          <a:ln w="12700">
            <a:solidFill>
              <a:srgbClr val="2351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457200" y="4069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04672" y="405993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Importance → Any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800600" y="1143000"/>
            <a:ext cx="4023360" cy="3520440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12700">
            <a:solidFill>
              <a:srgbClr val="00C48C"/>
            </a:solidFill>
            <a:prstDash val="solid"/>
          </a:ln>
          <a:effectLst>
            <a:outerShdw blurRad="127000" dist="254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4800600" y="1143000"/>
            <a:ext cx="4023360" cy="502920"/>
          </a:xfrm>
          <a:prstGeom prst="roundRect">
            <a:avLst>
              <a:gd name="adj" fmla="val 27273"/>
            </a:avLst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216152"/>
            <a:ext cx="347472" cy="347472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394960" y="1170432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— Save to OneDrive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937760" y="1783080"/>
            <a:ext cx="256032" cy="256032"/>
          </a:xfrm>
          <a:prstGeom prst="ellipse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7"/>
          <p:cNvSpPr/>
          <p:nvPr/>
        </p:nvSpPr>
        <p:spPr>
          <a:xfrm>
            <a:off x="4937760" y="1783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5285232" y="1773936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'+ New Step' below trigger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4937760" y="2185416"/>
            <a:ext cx="256032" cy="256032"/>
          </a:xfrm>
          <a:prstGeom prst="ellipse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0"/>
          <p:cNvSpPr/>
          <p:nvPr/>
        </p:nvSpPr>
        <p:spPr>
          <a:xfrm>
            <a:off x="4937760" y="2185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5285232" y="2176272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'OneDrive' → Select OneDrive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4937760" y="2587752"/>
            <a:ext cx="256032" cy="256032"/>
          </a:xfrm>
          <a:prstGeom prst="ellipse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3"/>
          <p:cNvSpPr/>
          <p:nvPr/>
        </p:nvSpPr>
        <p:spPr>
          <a:xfrm>
            <a:off x="4937760" y="2587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5285232" y="2578608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Action: 'Create File'</a:t>
            </a:r>
            <a:endParaRPr lang="en-US" sz="1100" dirty="0"/>
          </a:p>
        </p:txBody>
      </p:sp>
      <p:sp>
        <p:nvSpPr>
          <p:cNvPr id="39" name="Shape 35"/>
          <p:cNvSpPr/>
          <p:nvPr/>
        </p:nvSpPr>
        <p:spPr>
          <a:xfrm>
            <a:off x="4937760" y="2990088"/>
            <a:ext cx="256032" cy="256032"/>
          </a:xfrm>
          <a:prstGeom prst="ellipse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6"/>
          <p:cNvSpPr/>
          <p:nvPr/>
        </p:nvSpPr>
        <p:spPr>
          <a:xfrm>
            <a:off x="4937760" y="2990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5285232" y="2980944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 with OneDrive account</a:t>
            </a:r>
            <a:endParaRPr lang="en-US" sz="1100" dirty="0"/>
          </a:p>
        </p:txBody>
      </p:sp>
      <p:sp>
        <p:nvSpPr>
          <p:cNvPr id="42" name="Shape 38"/>
          <p:cNvSpPr/>
          <p:nvPr/>
        </p:nvSpPr>
        <p:spPr>
          <a:xfrm>
            <a:off x="4937760" y="3392424"/>
            <a:ext cx="256032" cy="256032"/>
          </a:xfrm>
          <a:prstGeom prst="ellipse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39"/>
          <p:cNvSpPr/>
          <p:nvPr/>
        </p:nvSpPr>
        <p:spPr>
          <a:xfrm>
            <a:off x="4937760" y="33924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44" name="Text 40"/>
          <p:cNvSpPr/>
          <p:nvPr/>
        </p:nvSpPr>
        <p:spPr>
          <a:xfrm>
            <a:off x="5285232" y="3383280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Folder Path  →  /EmailBackups</a:t>
            </a:r>
            <a:endParaRPr lang="en-US" sz="1100" dirty="0"/>
          </a:p>
        </p:txBody>
      </p:sp>
      <p:sp>
        <p:nvSpPr>
          <p:cNvPr id="45" name="Shape 41"/>
          <p:cNvSpPr/>
          <p:nvPr/>
        </p:nvSpPr>
        <p:spPr>
          <a:xfrm>
            <a:off x="4937760" y="3794760"/>
            <a:ext cx="256032" cy="256032"/>
          </a:xfrm>
          <a:prstGeom prst="ellipse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2"/>
          <p:cNvSpPr/>
          <p:nvPr/>
        </p:nvSpPr>
        <p:spPr>
          <a:xfrm>
            <a:off x="4937760" y="3794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47" name="Text 43"/>
          <p:cNvSpPr/>
          <p:nvPr/>
        </p:nvSpPr>
        <p:spPr>
          <a:xfrm>
            <a:off x="5285232" y="3785616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Name  →  [Dynamic: Subject].txt</a:t>
            </a:r>
            <a:endParaRPr lang="en-US" sz="1100" dirty="0"/>
          </a:p>
        </p:txBody>
      </p:sp>
      <p:sp>
        <p:nvSpPr>
          <p:cNvPr id="48" name="Shape 44"/>
          <p:cNvSpPr/>
          <p:nvPr/>
        </p:nvSpPr>
        <p:spPr>
          <a:xfrm>
            <a:off x="4937760" y="4197096"/>
            <a:ext cx="256032" cy="256032"/>
          </a:xfrm>
          <a:prstGeom prst="ellipse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4937760" y="4197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50" name="Text 46"/>
          <p:cNvSpPr/>
          <p:nvPr/>
        </p:nvSpPr>
        <p:spPr>
          <a:xfrm>
            <a:off x="5285232" y="4187952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Content  →  [Dynamic: Body]</a:t>
            </a:r>
            <a:endParaRPr lang="en-US" sz="1100" dirty="0"/>
          </a:p>
        </p:txBody>
      </p:sp>
      <p:sp>
        <p:nvSpPr>
          <p:cNvPr id="51" name="Shape 47"/>
          <p:cNvSpPr/>
          <p:nvPr/>
        </p:nvSpPr>
        <p:spPr>
          <a:xfrm>
            <a:off x="320040" y="4754880"/>
            <a:ext cx="8503920" cy="320040"/>
          </a:xfrm>
          <a:prstGeom prst="roundRect">
            <a:avLst>
              <a:gd name="adj" fmla="val 20000"/>
            </a:avLst>
          </a:prstGeom>
          <a:solidFill>
            <a:srgbClr val="F5A623">
              <a:alpha val="70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48"/>
          <p:cNvSpPr/>
          <p:nvPr/>
        </p:nvSpPr>
        <p:spPr>
          <a:xfrm>
            <a:off x="320040" y="475488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Finally: Click 'SAVE' at the top of the Logic App Designer to save your complete workflow.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2351A4">
              <a:alpha val="35000"/>
            </a:srgbClr>
          </a:solidFill>
          <a:ln w="12700">
            <a:solidFill>
              <a:srgbClr val="2351A4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Verification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1078992"/>
          </a:xfrm>
          <a:prstGeom prst="roundRect">
            <a:avLst>
              <a:gd name="adj" fmla="val 10169"/>
            </a:avLst>
          </a:prstGeom>
          <a:solidFill>
            <a:srgbClr val="162052"/>
          </a:solidFill>
          <a:ln w="12700">
            <a:solidFill>
              <a:srgbClr val="2351A4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98448"/>
            <a:ext cx="475488" cy="4754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70432" y="1353312"/>
            <a:ext cx="384048" cy="384048"/>
          </a:xfrm>
          <a:prstGeom prst="ellipse">
            <a:avLst/>
          </a:prstGeom>
          <a:solidFill>
            <a:srgbClr val="2351A4"/>
          </a:solidFill>
          <a:ln w="12700">
            <a:solidFill>
              <a:srgbClr val="2351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1170432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691640" y="1188720"/>
            <a:ext cx="3657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Test Email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91640" y="1591056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8C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email to yourself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C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Subject: LogicAppTest  |  Body: Hello Azure!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65760" y="2359152"/>
            <a:ext cx="8412480" cy="1078992"/>
          </a:xfrm>
          <a:prstGeom prst="roundRect">
            <a:avLst>
              <a:gd name="adj" fmla="val 10169"/>
            </a:avLst>
          </a:prstGeom>
          <a:solidFill>
            <a:srgbClr val="162052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560320"/>
            <a:ext cx="475488" cy="4754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170432" y="2615184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1170432" y="2615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691640" y="2450592"/>
            <a:ext cx="3657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Runs History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691640" y="285292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8C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Portal → Logic App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C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Runs History → Status: Succeeded ✓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365760" y="3621024"/>
            <a:ext cx="8412480" cy="1078992"/>
          </a:xfrm>
          <a:prstGeom prst="roundRect">
            <a:avLst>
              <a:gd name="adj" fmla="val 10169"/>
            </a:avLst>
          </a:prstGeom>
          <a:solidFill>
            <a:srgbClr val="162052"/>
          </a:solidFill>
          <a:ln w="12700">
            <a:solidFill>
              <a:srgbClr val="00C48C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822192"/>
            <a:ext cx="475488" cy="475488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1170432" y="3877056"/>
            <a:ext cx="384048" cy="384048"/>
          </a:xfrm>
          <a:prstGeom prst="ellipse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4"/>
          <p:cNvSpPr/>
          <p:nvPr/>
        </p:nvSpPr>
        <p:spPr>
          <a:xfrm>
            <a:off x="1170432" y="3877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691640" y="3712464"/>
            <a:ext cx="3657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in OneDrive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691640" y="411480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8C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OneDrive → /EmailBackups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C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LogicAppTest.txt file created ✓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365760" y="4663440"/>
            <a:ext cx="8412480" cy="365760"/>
          </a:xfrm>
          <a:prstGeom prst="roundRect">
            <a:avLst>
              <a:gd name="adj" fmla="val 20000"/>
            </a:avLst>
          </a:prstGeom>
          <a:solidFill>
            <a:srgbClr val="00704A">
              <a:alpha val="80000"/>
            </a:srgbClr>
          </a:solidFill>
          <a:ln w="12700">
            <a:solidFill>
              <a:srgbClr val="00C4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8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Result: File 'LogicAppTest.txt' appears in OneDrive /EmailBackups with your email body as content.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Use Cases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743200" cy="1645920"/>
          </a:xfrm>
          <a:prstGeom prst="roundRect">
            <a:avLst>
              <a:gd name="adj" fmla="val 7222"/>
            </a:avLst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27000" dist="254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351A4">
              <a:alpha val="85000"/>
            </a:srgbClr>
          </a:solidFill>
          <a:ln w="12700">
            <a:solidFill>
              <a:srgbClr val="2351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34416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30759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1920240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Auto-save client emails to cloud storage for audit trails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46120" y="1143000"/>
            <a:ext cx="2743200" cy="1645920"/>
          </a:xfrm>
          <a:prstGeom prst="roundRect">
            <a:avLst>
              <a:gd name="adj" fmla="val 7222"/>
            </a:avLst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27000" dist="254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3383280" y="128016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E53935">
              <a:alpha val="85000"/>
            </a:srgbClr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1344168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23360" y="130759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383280" y="1920240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Archive patient inquiry emails securely and automatically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72200" y="1143000"/>
            <a:ext cx="2743200" cy="1645920"/>
          </a:xfrm>
          <a:prstGeom prst="roundRect">
            <a:avLst>
              <a:gd name="adj" fmla="val 7222"/>
            </a:avLst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27000" dist="254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6309360" y="128016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F5A623">
              <a:alpha val="85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1344168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49440" y="130759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Department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309360" y="1920240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job application emails into organized folders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320040" y="3017520"/>
            <a:ext cx="2743200" cy="1645920"/>
          </a:xfrm>
          <a:prstGeom prst="roundRect">
            <a:avLst>
              <a:gd name="adj" fmla="val 7222"/>
            </a:avLst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27000" dist="254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457200" y="31546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0C48C">
              <a:alpha val="85000"/>
            </a:srgbClr>
          </a:solidFill>
          <a:ln w="12700">
            <a:solidFill>
              <a:srgbClr val="00C4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3218688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97280" y="318211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457200" y="3794760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invoice emails to OneDrive for accounting records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246120" y="3017520"/>
            <a:ext cx="2743200" cy="1645920"/>
          </a:xfrm>
          <a:prstGeom prst="roundRect">
            <a:avLst>
              <a:gd name="adj" fmla="val 7222"/>
            </a:avLst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27000" dist="254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3383280" y="31546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8E44AD">
              <a:alpha val="85000"/>
            </a:srgbClr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6432" y="3218688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023360" y="318211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3383280" y="3794760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customer order emails automatically to cloud storage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172200" y="3017520"/>
            <a:ext cx="2743200" cy="1645920"/>
          </a:xfrm>
          <a:prstGeom prst="roundRect">
            <a:avLst>
              <a:gd name="adj" fmla="val 7222"/>
            </a:avLst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27000" dist="254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3"/>
          <p:cNvSpPr/>
          <p:nvPr/>
        </p:nvSpPr>
        <p:spPr>
          <a:xfrm>
            <a:off x="6309360" y="31546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E67E22">
              <a:alpha val="85000"/>
            </a:srgbClr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2512" y="3218688"/>
            <a:ext cx="384048" cy="38404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49440" y="318211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309360" y="3794760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Archive student assignment submission emails by date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2351A4">
              <a:alpha val="35000"/>
            </a:srgbClr>
          </a:solidFill>
          <a:ln w="12700">
            <a:solidFill>
              <a:srgbClr val="2351A4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00C6FF">
              <a:alpha val="20000"/>
            </a:srgbClr>
          </a:solidFill>
          <a:ln w="12700">
            <a:solidFill>
              <a:srgbClr val="00C6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162052"/>
          </a:solidFill>
          <a:ln w="12700">
            <a:solidFill>
              <a:srgbClr val="2351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75488" y="1078992"/>
            <a:ext cx="292608" cy="292608"/>
          </a:xfrm>
          <a:prstGeom prst="rect">
            <a:avLst/>
          </a:prstGeom>
          <a:solidFill>
            <a:srgbClr val="00C6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" y="1078992"/>
            <a:ext cx="292608" cy="292608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75488" y="1078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0607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Azure Logic Apps?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135331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C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cloud-based, no-code workflow automation service that connects apps and services using visual triggers and actions.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82880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162052"/>
          </a:solidFill>
          <a:ln w="12700">
            <a:solidFill>
              <a:srgbClr val="2351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75488" y="1901952"/>
            <a:ext cx="292608" cy="292608"/>
          </a:xfrm>
          <a:prstGeom prst="rect">
            <a:avLst/>
          </a:prstGeom>
          <a:solidFill>
            <a:srgbClr val="00C6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" y="1901952"/>
            <a:ext cx="292608" cy="292608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75488" y="1901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188366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Trigger?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217627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C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event that starts the Logic App workflow automatically. Example: a new email arriving in Outlook Inbox.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6517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162052"/>
          </a:solidFill>
          <a:ln w="12700">
            <a:solidFill>
              <a:srgbClr val="2351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75488" y="2724912"/>
            <a:ext cx="292608" cy="292608"/>
          </a:xfrm>
          <a:prstGeom prst="rect">
            <a:avLst/>
          </a:prstGeom>
          <a:solidFill>
            <a:srgbClr val="00C6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" y="2724912"/>
            <a:ext cx="292608" cy="292608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75488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270662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Dynamic Content?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299923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C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data from the trigger automatically inserted into action fields — like email Subject becoming the file name.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47472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162052"/>
          </a:solidFill>
          <a:ln w="12700">
            <a:solidFill>
              <a:srgbClr val="2351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75488" y="3547872"/>
            <a:ext cx="292608" cy="292608"/>
          </a:xfrm>
          <a:prstGeom prst="rect">
            <a:avLst/>
          </a:prstGeom>
          <a:solidFill>
            <a:srgbClr val="00C6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" y="3547872"/>
            <a:ext cx="292608" cy="292608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75488" y="3547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8680" y="352958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Multi-tenant hosting?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" y="382219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C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cloud infrastructure managed by Microsoft. Pay-per-operation — nearly free for small projects.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29768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162052"/>
          </a:solidFill>
          <a:ln w="12700">
            <a:solidFill>
              <a:srgbClr val="2351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75488" y="4370832"/>
            <a:ext cx="292608" cy="292608"/>
          </a:xfrm>
          <a:prstGeom prst="rect">
            <a:avLst/>
          </a:prstGeom>
          <a:solidFill>
            <a:srgbClr val="00C6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5488" y="4370832"/>
            <a:ext cx="292608" cy="292608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75488" y="43708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68680" y="435254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is Logic Apps different from coding?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68680" y="464515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C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drag-and-drop designer with 1000+ connectors. No programming knowledge needed — build in minutes.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351A4">
              <a:alpha val="45000"/>
            </a:srgbClr>
          </a:solidFill>
          <a:ln w="12700">
            <a:solidFill>
              <a:srgbClr val="2351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2351A4">
              <a:alpha val="40000"/>
            </a:srgbClr>
          </a:solidFill>
          <a:ln w="12700">
            <a:solidFill>
              <a:srgbClr val="2351A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315200" y="0"/>
            <a:ext cx="1828800" cy="1828800"/>
          </a:xfrm>
          <a:prstGeom prst="ellipse">
            <a:avLst/>
          </a:prstGeom>
          <a:solidFill>
            <a:srgbClr val="00C6FF">
              <a:alpha val="20000"/>
            </a:srgbClr>
          </a:solidFill>
          <a:ln w="12700">
            <a:solidFill>
              <a:srgbClr val="00C6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4572000" cy="36576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 demonstrates the power of cloud-based no-code automation using Azure Logic Apps. By connecting Microsoft Outlook and OneDrive through a trigger-action workflow, we automated email archiving in under 11 minutes without writing a single line of code.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3931920" cy="822960"/>
          </a:xfrm>
          <a:prstGeom prst="roundRect">
            <a:avLst>
              <a:gd name="adj" fmla="val 11111"/>
            </a:avLst>
          </a:prstGeom>
          <a:solidFill>
            <a:srgbClr val="162052"/>
          </a:solidFill>
          <a:ln w="12700">
            <a:solidFill>
              <a:srgbClr val="00C48C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14600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3000" y="23317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lines of code written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440680" y="23317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57200" y="3383280"/>
            <a:ext cx="3931920" cy="822960"/>
          </a:xfrm>
          <a:prstGeom prst="roundRect">
            <a:avLst>
              <a:gd name="adj" fmla="val 11111"/>
            </a:avLst>
          </a:prstGeom>
          <a:solidFill>
            <a:srgbClr val="162052"/>
          </a:solidFill>
          <a:ln w="12700">
            <a:solidFill>
              <a:srgbClr val="00C6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566160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43000" y="33832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Hosted on Microsoft Azure cloud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754880" y="3383280"/>
            <a:ext cx="3931920" cy="822960"/>
          </a:xfrm>
          <a:prstGeom prst="roundRect">
            <a:avLst>
              <a:gd name="adj" fmla="val 11111"/>
            </a:avLst>
          </a:prstGeom>
          <a:solidFill>
            <a:srgbClr val="162052"/>
          </a:solidFill>
          <a:ln w="12700">
            <a:solidFill>
              <a:srgbClr val="BDB9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566160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40680" y="33832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Enterprise-grade automation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57200" y="452628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162052"/>
          </a:solidFill>
          <a:ln w="12700">
            <a:solidFill>
              <a:srgbClr val="00C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5"/>
          <p:cNvSpPr/>
          <p:nvPr/>
        </p:nvSpPr>
        <p:spPr>
          <a:xfrm>
            <a:off x="548640" y="455371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0C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"Azure Logic Apps proves that powerful cloud automation is accessible to everyone — no coding required."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457200"/>
            <a:ext cx="3657600" cy="3657600"/>
          </a:xfrm>
          <a:prstGeom prst="ellipse">
            <a:avLst/>
          </a:prstGeom>
          <a:solidFill>
            <a:srgbClr val="2351A4">
              <a:alpha val="30000"/>
            </a:srgbClr>
          </a:solidFill>
          <a:ln w="12700">
            <a:solidFill>
              <a:srgbClr val="2351A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914400" y="2743200"/>
            <a:ext cx="3200400" cy="3200400"/>
          </a:xfrm>
          <a:prstGeom prst="ellipse">
            <a:avLst/>
          </a:prstGeom>
          <a:solidFill>
            <a:srgbClr val="00C6FF">
              <a:alpha val="20000"/>
            </a:srgbClr>
          </a:solidFill>
          <a:ln w="12700">
            <a:solidFill>
              <a:srgbClr val="00C6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315200" y="-457200"/>
            <a:ext cx="2286000" cy="2286000"/>
          </a:xfrm>
          <a:prstGeom prst="ellipse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5A62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0" y="2651760"/>
            <a:ext cx="2743200" cy="36576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162052"/>
          </a:solidFill>
          <a:ln w="12700">
            <a:solidFill>
              <a:srgbClr val="2351A4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0080" y="294436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40156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51760" y="292608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162052"/>
          </a:solidFill>
          <a:ln w="12700">
            <a:solidFill>
              <a:srgbClr val="2351A4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651760" y="294436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 Apps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51760" y="340156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292608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162052"/>
          </a:solidFill>
          <a:ln w="12700">
            <a:solidFill>
              <a:srgbClr val="2351A4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663440" y="294436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Code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63440" y="340156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75120" y="292608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162052"/>
          </a:solidFill>
          <a:ln w="12700">
            <a:solidFill>
              <a:srgbClr val="2351A4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675120" y="294436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min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75120" y="340156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Computing Project  |  Vidyalankar Institute of Technology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1057</Words>
  <Application>Microsoft Office PowerPoint</Application>
  <PresentationFormat>On-screen Show (16:9)</PresentationFormat>
  <Paragraphs>171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Logic Apps — No-Code Automation</dc:title>
  <dc:subject>PptxGenJS Presentation</dc:subject>
  <dc:creator>Azure Cloud Project</dc:creator>
  <cp:lastModifiedBy>Vaishnavi Shelke</cp:lastModifiedBy>
  <cp:revision>2</cp:revision>
  <dcterms:created xsi:type="dcterms:W3CDTF">2026-06-19T08:33:03Z</dcterms:created>
  <dcterms:modified xsi:type="dcterms:W3CDTF">2026-06-19T08:43:07Z</dcterms:modified>
</cp:coreProperties>
</file>